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76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4" r:id="rId19"/>
    <p:sldId id="393" r:id="rId20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8A9BABC5-D5EA-4291-9799-248B8FC614E6}">
          <p14:sldIdLst>
            <p14:sldId id="376"/>
            <p14:sldId id="377"/>
            <p14:sldId id="378"/>
            <p14:sldId id="379"/>
            <p14:sldId id="380"/>
          </p14:sldIdLst>
        </p14:section>
        <p14:section name="Решение" id="{C45FD73A-2C06-4DA7-8411-52B308403073}">
          <p14:sldIdLst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4"/>
          </p14:sldIdLst>
        </p14:section>
        <p14:section name="Финал" id="{A8EBD15E-29E3-48C1-9933-2077206EFD89}">
          <p14:sldIdLst>
            <p14:sldId id="393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3" autoAdjust="0"/>
    <p:restoredTop sz="95857"/>
  </p:normalViewPr>
  <p:slideViewPr>
    <p:cSldViewPr snapToGrid="0" showGuides="1">
      <p:cViewPr varScale="1">
        <p:scale>
          <a:sx n="70" d="100"/>
          <a:sy n="70" d="100"/>
        </p:scale>
        <p:origin x="780" y="9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Montserrat"/>
              </a:rPr>
              <a:t>Подбор на синтетике: 200 кандидатов × 30 потребностей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NDCG@10 — качество выдачи</c:v>
                </c:pt>
              </c:strCache>
            </c:strRef>
          </c:tx>
          <c:spPr>
            <a:solidFill>
              <a:srgbClr val="8A83D1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Только тест</c:v>
                </c:pt>
                <c:pt idx="1">
                  <c:v>Только навыки</c:v>
                </c:pt>
                <c:pt idx="2">
                  <c:v>Случайный порядок</c:v>
                </c:pt>
                <c:pt idx="3">
                  <c:v>Только релевантность</c:v>
                </c:pt>
                <c:pt idx="4">
                  <c:v>ФСП: релевантность × отклик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</c:v>
                </c:pt>
                <c:pt idx="1">
                  <c:v>0.86</c:v>
                </c:pt>
                <c:pt idx="2">
                  <c:v>0.63</c:v>
                </c:pt>
                <c:pt idx="3">
                  <c:v>0.94</c:v>
                </c:pt>
                <c:pt idx="4">
                  <c:v>0.92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1F7-4B09-8E0F-482BE1DAD8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Доля принятых приглашений в топ-10</c:v>
                </c:pt>
              </c:strCache>
            </c:strRef>
          </c:tx>
          <c:spPr>
            <a:solidFill>
              <a:srgbClr val="FF0053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Только тест</c:v>
                </c:pt>
                <c:pt idx="1">
                  <c:v>Только навыки</c:v>
                </c:pt>
                <c:pt idx="2">
                  <c:v>Случайный порядок</c:v>
                </c:pt>
                <c:pt idx="3">
                  <c:v>Только релевантность</c:v>
                </c:pt>
                <c:pt idx="4">
                  <c:v>ФСП: релевантность × отклик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0.64</c:v>
                </c:pt>
                <c:pt idx="1">
                  <c:v>0.65999999999999992</c:v>
                </c:pt>
                <c:pt idx="2">
                  <c:v>0.65999999999999992</c:v>
                </c:pt>
                <c:pt idx="3">
                  <c:v>0.73</c:v>
                </c:pt>
                <c:pt idx="4">
                  <c:v>0.84000000000000008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1F7-4B09-8E0F-482BE1DAD8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FFFFFF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Добрый день! Мы — команда «[название]». Наше решение для спецтрека ФСП — платформа найма с обратной механикой: не кандидат рассылает резюме, а работодатель приглашает кандидата с подтверждённым грейдом.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Коротко о решении. Кандидат проходит опрос и адаптивный тест и попадает в категорию «специализация × грейд». Работодатель описывает потребность, видит карту категорий и объяснимую подборку и приглашает конкретного человека — всегда с зарплатной вилкой. Контакты открываются только после согласия кандидата. Уникальность — категория строится на измерении, а не на самоописании, а подбор учитывает вероятность отклика.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команде один участник, поэтому все роли закрыты одним человеком: аналитика, архитектура, бэкенд, механика тестирования, банк заданий, интерфейс, качество и безопасность, документация. На слайде — что сделано в каждой роли.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Почему эта задача: найм в ИТ держится на самоописании, а грейды разных компаний несопоставимы. Задача ФСП позволяет подтверждать компетенции измерением и опираться на соревновательные достижения. Главные вызовы: размеченных данных о грейдах нет — мы построили валидацию на синтетике с известной истиной; код открыт — поэтому задания параметрические; ревью безопасности нашло критическую уязвимость входа — исправили и закрыли тестом.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Техническая суть: категория по адаптивному тесту на 101 семействе заданий и модели IRT; грейд — по вероятности, а не по сумме баллов; подбор — релевантность, умноженная на вероятность отклика, с фактами «за» и «против»; контакты — по согласию и по правилам 152-ФЗ. Маркетинговая суть: работодатель видит рынок до найма, кандидат получает подтверждённый грейд и приглашения только с вилкой, ФСП — карьерный трек для своих участников.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Механика в трёх шагах. Первый — кандидат подтверждает грейд: от 12 до 20 адаптивных заданий, на выходе категория со статусом, процентиль и разбор ошибок. Второй — работодатель видит рынок: по тексту потребности сразу строится карта категорий. Третий — приглашение конкретному человеку с обязательной вилкой. Никаких откликов вслепую и контактов без согласия.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Сценарий целиком — пять шагов. Потребность пишется текстом, LLM-адаптер разбирает её в структуру, а человек подтверждает черновик. Дальше карта категорий и объяснимая подборка; каждое построение сохраняется как версия, поэтому уточнение не теряет прежний результат. Приглашение с вилкой ограничено квотами, контакты открываются после согласия, а отказ приходит с причиной — это обратная связь работодателю.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Карта категорий — первый экран работодателя. По каждому грейду: сколько кандидатов подтвердили его тестом, сколько из них с достижениями ФСП, ожидания по зарплате по квартилям и какую долю категории покрывает вилка. Если вилка ниже рынка, платформа подсказывает, какой она должна быть. Работодатель правит вилку до приглашений, а не после десятка отказов.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Подборка. Релевантность складывается из пяти компонентов: тест — 35 процентов, навыки — 25, достижения ФСП — 15, свежесть — 10 и условия — 15. Итог умножается на вероятность отклика: работодателю нужны кандидаты, которые ответят. Подтверждённые тестом всегда выше неподтверждённых. У каждого места — факты «за» и «против» с вкладом, а скрытые кандидатом поля в подбор не попадают. На валидации это даёт NDCG 0,92 и на 15 процентов больше принятых приглашений, чем ранжирование только по релевантности.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 ответа работодатель видит профиль, результат теста и навыки, но не телефон и почту. Кандидат видит компанию, текст и вилку и решает сам. Принятие выдаёт компании грант на контакты, каждый просмотр пишется в журнал аудита. Правило проверено сквозными тестами: чужое не видно, без гранта контакты не отдаются.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Теперь механика тестирования. Задание — не текст из банка, а параметрическое семейство: генератор по seed строит данные и сам вычисляет правильный ответ. Утёкший ответ не подходит к другому варианту — чтобы ответить, нужно решить задачу. Семейств 101, в пяти блоках, у каждого не меньше 150 разных вариантов, форматов ответа — семь. Следующее задание выбирается адаптивно, по максимуму информации о кандидате, с контролем экспозиции и баланса тем, а сложность заданий уточняется по живым ответам.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Результат — не сумма баллов, а оценка способности по модели IRT с погрешностью. Грейд подтверждается, если вероятность быть не ниже его границы — от 70 процентов; если 80 процентов за следующий грейд — предлагаем повышение. Обратите внимание: верных — около половины, а Middle подтверждён почти наверняка. Адаптивный тест держит кандидата около половины верных ответов, поэтому решает оценка способности, а не доля верных.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 мы проверили механики. Размеченных данных нет, поэтому валидация — на синтетической популяции с известной истиной: четыре специализации по 400 кандидатов, всё воспроизводится одной командой. Грейд определяется точно в 82–84 процентах случаев и с точностью до ступени — всегда. Повторное прохождение даёт согласованный результат: каппа Коэна 0,64–0,73. Угадывающий не подтверждает ни одного грейда. В подборе полная формула даёт на 15 процентов больше принятых приглашений, чем ранжирование только по релевантности, при сопоставимом качестве выдачи.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Техника: модульный монолит на Go с явными слоями, PostgreSQL и React. Спецификация OpenAPI генерируется из кода — 98 операций; типы фронтенда и SQL-слой тоже генерируются, поэтому расхождения ловит компилятор. 198 тестов Go и 14 сквозных сценариев в браузере. Независимое ревью безопасности нашло восемь проблем, одну критическую, — все исправлены с регрессионными тестами. Под нагрузкой 50 пользователей — около 1160 запросов в секунду без ошибок.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чём уникальность. Первое — категория вместо резюме: грейд подтверждён измерением. Второе — задания, которые бесполезно сливать. Третье — подбор с вероятностью отклика: работодатель получает ответивших. Четвёртое — контакты только по согласию, а кандидат без истории ФСП не штрафуется.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Бизнес-модель — гипотеза для пилота. Кандидатам — бесплатно. Работодателям в пилоте — бесплатная квота приглашений, дальше платные тарифы: больше приглашений, аналитика рынка по категориям, интеграция с ATS. ФСП получает карьерный трек для участников соревнований и данные о навыках сообщества. Метрики пилота — доля принятых приглашений, время до контакта и доля подтверждённых категорий.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План: пилот с реальным ФСП ID и реестром достижений; банк до 150–200 семейств с банками QA и ИБ; прокторинг по согласию и антифрод; модель отклика на накопленных данных; интеграция с ATS и верификация компаний.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Спасибо! Репозиторий и демо-доступы — на слайде. Готовы показать платформу вживую и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11.10.2026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11.10.2026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11.10.2026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11.10.2026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en-US" sz="4000" dirty="0"/>
              <a:t>Ratel</a:t>
            </a:r>
            <a:endParaRPr lang="ru-RU" sz="4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Решение"/>
          <p:cNvSpPr txBox="1"/>
          <p:nvPr/>
        </p:nvSpPr>
        <p:spPr>
          <a:xfrm>
            <a:off x="384048" y="324612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0">
                <a:solidFill>
                  <a:srgbClr val="FFFFFF"/>
                </a:solidFill>
              </a:rPr>
              <a:t>Платформа найма «ФСП»: работодатель приглашает кандидата с подтверждённым грейдом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landing-hero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Категория по измерению, а не по резюме: параметрические задания, которые бесполезно «сливать», модель IRT и решение по вероятности. Подбор учитывает не только релевантность, но и вероятность отклика.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>
                <a:solidFill>
                  <a:schemeClr val="tx1"/>
                </a:solidFill>
              </a:rPr>
              <a:t>Капитан: Тимур Айгумов, продукт и математика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>
                <a:solidFill>
                  <a:schemeClr val="tx1"/>
                </a:solidFill>
              </a:rPr>
              <a:t>Кол-во участников: 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>
                <a:solidFill>
                  <a:schemeClr val="tx1"/>
                </a:solidFill>
              </a:rPr>
              <a:t>Краткое описание: Сборная Республики Дагестан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>
                <a:solidFill>
                  <a:schemeClr val="tx1"/>
                </a:solidFill>
              </a:rPr>
              <a:t>Город и регион: Республика Дагестан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>
                <a:solidFill>
                  <a:schemeClr val="accent5"/>
                </a:solidFill>
                <a:latin typeface="+mn-lt"/>
              </a:rPr>
              <a:t>Команда и решение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7190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>
                <a:solidFill>
                  <a:schemeClr val="tx1"/>
                </a:solidFill>
              </a:rPr>
              <a:t>Платформа найма с обратной механикой: кандидат подтверждает грейд адаптивным тестом и попадает в категорию «специализация × грейд», а работодатель по карте категорий и объяснимой подборке приглашает конкретного человека с обязательной вилкой. Контакты — только после согласия кандидата.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25047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Фото"/>
          <p:cNvSpPr/>
          <p:nvPr/>
        </p:nvSpPr>
        <p:spPr>
          <a:xfrm>
            <a:off x="581397" y="1816054"/>
            <a:ext cx="1722566" cy="1552901"/>
          </a:xfrm>
          <a:prstGeom prst="roundRect">
            <a:avLst>
              <a:gd name="adj" fmla="val 10599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user-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20" y="2226744"/>
            <a:ext cx="731520" cy="731520"/>
          </a:xfrm>
          <a:prstGeom prst="rect">
            <a:avLst/>
          </a:prstGeom>
        </p:spPr>
      </p:pic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  <a:latin typeface="+mn-lt"/>
              </a:rPr>
              <a:t>УЧАСТНИК И РОЛИ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Капитан, разработка полного цикла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[Telegram]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21" name="Роли"/>
          <p:cNvSpPr/>
          <p:nvPr/>
        </p:nvSpPr>
        <p:spPr>
          <a:xfrm>
            <a:off x="2651760" y="1522006"/>
            <a:ext cx="910742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71800" y="178308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800" b="1">
                <a:solidFill>
                  <a:srgbClr val="520978"/>
                </a:solidFill>
              </a:rPr>
              <a:t>Все роли команды — у одного участника</a:t>
            </a:r>
          </a:p>
        </p:txBody>
      </p:sp>
      <p:pic>
        <p:nvPicPr>
          <p:cNvPr id="23" name="Picture 22" descr="search-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414016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8728" y="2395728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Аналитика и продукт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2649220"/>
            <a:ext cx="370332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разбор ТЗ и ответов организаторов, сценарии трёх ролей</a:t>
            </a:r>
          </a:p>
        </p:txBody>
      </p:sp>
      <p:pic>
        <p:nvPicPr>
          <p:cNvPr id="26" name="Picture 25" descr="layers-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414016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73567" y="2395728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Архитектура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7" y="2649220"/>
            <a:ext cx="370332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модульный монолит, 9 архитектурных решений (ADR)</a:t>
            </a:r>
          </a:p>
        </p:txBody>
      </p:sp>
      <p:pic>
        <p:nvPicPr>
          <p:cNvPr id="29" name="Picture 28" descr="server-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3364992"/>
            <a:ext cx="420624" cy="4206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38728" y="3346704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Backend на 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3600196"/>
            <a:ext cx="3703320" cy="2407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98 операций API, PostgreSQL, интеграции</a:t>
            </a:r>
          </a:p>
        </p:txBody>
      </p:sp>
      <p:pic>
        <p:nvPicPr>
          <p:cNvPr id="32" name="Picture 31" descr="sigma-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3364992"/>
            <a:ext cx="420624" cy="4206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73567" y="3346704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Механика тестирования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7" y="3600196"/>
            <a:ext cx="370332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IRT 3PL, адаптивный тест, решение по вероятности</a:t>
            </a:r>
          </a:p>
        </p:txBody>
      </p:sp>
      <p:pic>
        <p:nvPicPr>
          <p:cNvPr id="35" name="Picture 34" descr="puzzle-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4315968"/>
            <a:ext cx="420624" cy="4206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538728" y="4297680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Банк заданий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4551172"/>
            <a:ext cx="370332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101 параметрическое семейство в пяти блоках</a:t>
            </a:r>
          </a:p>
        </p:txBody>
      </p:sp>
      <p:pic>
        <p:nvPicPr>
          <p:cNvPr id="38" name="Picture 37" descr="layout-dashboard-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4315968"/>
            <a:ext cx="420624" cy="4206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73567" y="4297680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Frontend и дизайн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4551172"/>
            <a:ext cx="3703320" cy="2407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три кабинета, дизайн-система в стиле ФСП</a:t>
            </a:r>
          </a:p>
        </p:txBody>
      </p:sp>
      <p:pic>
        <p:nvPicPr>
          <p:cNvPr id="41" name="Picture 40" descr="shield-check-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5266944"/>
            <a:ext cx="420624" cy="4206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538728" y="5248656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Качество и безопасность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8728" y="5502148"/>
            <a:ext cx="3703320" cy="2407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198 тестов Go, 14 E2E, ревью по OWASP</a:t>
            </a:r>
          </a:p>
        </p:txBody>
      </p:sp>
      <p:pic>
        <p:nvPicPr>
          <p:cNvPr id="44" name="Picture 43" descr="file-text-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6640" y="5266944"/>
            <a:ext cx="420624" cy="4206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973567" y="5248656"/>
            <a:ext cx="370332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1C1D22"/>
                </a:solidFill>
              </a:rPr>
              <a:t>Документация и питч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7" y="5502148"/>
            <a:ext cx="370332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5A556B"/>
                </a:solidFill>
              </a:rPr>
              <a:t>47 страниц документации, отчёт валидации, демо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5434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  <a:latin typeface="+mn-lt"/>
              </a:rPr>
              <a:t>ИСТОРИЯ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69264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Команда из четырёх участников — Сборная Республики Дагестан. Решение сделано с нуля: от разбора ТЗ и ответов организаторов до валидации механик, документации и демо-ролика.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24128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indent="-201168">
              <a:lnSpc>
                <a:spcPct val="100000"/>
              </a:lnSpc>
              <a:spcAft>
                <a:spcPts val="200"/>
              </a:spcAft>
              <a:buClr>
                <a:srgbClr val="FF0053"/>
              </a:buClr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Нет данных с разметкой грейдов → собственная валидация на синтетике с известной истиной</a:t>
            </a:r>
          </a:p>
          <a:p>
            <a:pPr marL="201168" indent="-201168">
              <a:lnSpc>
                <a:spcPct val="100000"/>
              </a:lnSpc>
              <a:spcAft>
                <a:spcPts val="200"/>
              </a:spcAft>
              <a:buClr>
                <a:srgbClr val="FF0053"/>
              </a:buClr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Код открыт по условиям ТЗ → параметрические задания: ответ зависит от варианта</a:t>
            </a:r>
          </a:p>
          <a:p>
            <a:pPr marL="201168" indent="-201168">
              <a:lnSpc>
                <a:spcPct val="100000"/>
              </a:lnSpc>
              <a:spcAft>
                <a:spcPts val="200"/>
              </a:spcAft>
              <a:buClr>
                <a:srgbClr val="FF0053"/>
              </a:buClr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Кириллица из PDF-резюме читалась с ошибками → свой разбор шрифтов в изолированном процессе</a:t>
            </a:r>
          </a:p>
          <a:p>
            <a:pPr marL="201168" indent="-201168">
              <a:lnSpc>
                <a:spcPct val="100000"/>
              </a:lnSpc>
              <a:spcAft>
                <a:spcPts val="200"/>
              </a:spcAft>
              <a:buClr>
                <a:srgbClr val="FF0053"/>
              </a:buClr>
              <a:buFont typeface="Arial"/>
              <a:buChar char="•"/>
            </a:pPr>
            <a:r>
              <a:rPr lang="ru-RU">
                <a:solidFill>
                  <a:schemeClr val="tx1"/>
                </a:solidFill>
              </a:rPr>
              <a:t>Ревью безопасности нашло критическую уязвимость входа → исправлена, закрыта регрессионным тестом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Сложности и как мы их решили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69264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Найм в ИТ держится на самоописании: резюме не подтверждено, грейды разных компаний несопоставимы, работодатель тонет в откликах. Задача ФСП позволяет перевернуть механику — подтверждать компетенции измерением и опираться на соревновательные достижения из реестра.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Почему именно эта задача?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chemeClr val="tx1"/>
                </a:solidFill>
              </a:rPr>
              <a:t>Категория «специализация × грейд» — по опросу и адаптивному тесту: 101 параметрическое семейство заданий, модель IRT 3PL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chemeClr val="tx1"/>
                </a:solidFill>
              </a:rPr>
              <a:t>Грейд подтверждается по вероятности P(</a:t>
            </a:r>
            <a:r>
              <a:rPr lang="ru-RU" sz="1400">
                <a:solidFill>
                  <a:schemeClr val="tx1"/>
                </a:solidFill>
                <a:latin typeface="Arial"/>
              </a:rPr>
              <a:t>θ</a:t>
            </a:r>
            <a:r>
              <a:rPr lang="ru-RU" sz="1400">
                <a:solidFill>
                  <a:schemeClr val="tx1"/>
                </a:solidFill>
              </a:rPr>
              <a:t> ≥ граница) ≥ 0,70, а не по сумме баллов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chemeClr val="tx1"/>
                </a:solidFill>
              </a:rPr>
              <a:t>Подбор: релевантность × вероятность отклика; у каждого места — факты «за» и «против»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chemeClr val="tx1"/>
                </a:solidFill>
              </a:rPr>
              <a:t>152-ФЗ: согласия, аудит и удаление данных; контакты — только по гранту после согласия кандидата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chemeClr val="tx1"/>
                </a:solidFill>
              </a:rPr>
              <a:t>Go, PostgreSQL, React; 98 операций OpenAPI; 198 тестов Go и 14 сквозных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chemeClr val="tx1"/>
                </a:solidFill>
              </a:rPr>
              <a:t>Работодателю</a:t>
            </a:r>
            <a:r>
              <a:rPr lang="ru-RU" sz="1400">
                <a:solidFill>
                  <a:schemeClr val="tx1"/>
                </a:solidFill>
              </a:rPr>
              <a:t> — карта рынка до найма и кандидаты, которые ответят, вместо потока откликов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chemeClr val="tx1"/>
                </a:solidFill>
              </a:rPr>
              <a:t>Кандидату</a:t>
            </a:r>
            <a:r>
              <a:rPr lang="ru-RU" sz="1400">
                <a:solidFill>
                  <a:schemeClr val="tx1"/>
                </a:solidFill>
              </a:rPr>
              <a:t> — подтверждённый грейд вместо самоописания и приглашения только с зарплатной вилкой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chemeClr val="tx1"/>
                </a:solidFill>
              </a:rPr>
              <a:t>ФСП</a:t>
            </a:r>
            <a:r>
              <a:rPr lang="ru-RU" sz="1400">
                <a:solidFill>
                  <a:schemeClr val="tx1"/>
                </a:solidFill>
              </a:rPr>
              <a:t> — карьерный трек для участников соревнований: достижения из реестра усиливают профиль</a:t>
            </a:r>
          </a:p>
          <a:p>
            <a:pPr marL="201168" indent="-201168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chemeClr val="tx1"/>
                </a:solidFill>
              </a:rPr>
              <a:t>Развитие</a:t>
            </a:r>
            <a:r>
              <a:rPr lang="ru-RU" sz="1400">
                <a:solidFill>
                  <a:schemeClr val="tx1"/>
                </a:solidFill>
              </a:rPr>
              <a:t> — пилот с реестром ФСП, банк 150+ семейств, банки QA и ИБ, интеграция с ATS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92511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800" b="1">
                <a:solidFill>
                  <a:srgbClr val="520978"/>
                </a:solidFill>
              </a:rPr>
              <a:t>Кандидат подтверждает грейд</a:t>
            </a:r>
          </a:p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Опрос и адаптивный тест из 12–20 заданий. Итог — категория «специализация × грейд» со статусом подтверждения, процентиль и разбор ответов.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800" b="1">
                <a:solidFill>
                  <a:srgbClr val="520978"/>
                </a:solidFill>
              </a:rPr>
              <a:t>Работодатель видит рынок</a:t>
            </a:r>
          </a:p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Описывает потребность текстом и сразу видит карту категорий: сколько подтверждённых, их ожидания по зарплате и покрытие своей вилкой.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800" b="1">
                <a:solidFill>
                  <a:srgbClr val="520978"/>
                </a:solidFill>
              </a:rPr>
              <a:t>И приглашает конкретного человека</a:t>
            </a:r>
          </a:p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Объяснимая подборка → приглашение с обязательной вилкой. Контакты открываются только после согласия кандидата.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ОБРАТНАЯ МЕХАНИКА НАЙМА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badge-check-p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699" y="1710540"/>
            <a:ext cx="713232" cy="713232"/>
          </a:xfrm>
          <a:prstGeom prst="rect">
            <a:avLst/>
          </a:prstGeom>
        </p:spPr>
      </p:pic>
      <p:pic>
        <p:nvPicPr>
          <p:cNvPr id="60" name="Picture 59" descr="chart-column-p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943" y="1710540"/>
            <a:ext cx="713232" cy="713232"/>
          </a:xfrm>
          <a:prstGeom prst="rect">
            <a:avLst/>
          </a:prstGeom>
        </p:spPr>
      </p:pic>
      <p:pic>
        <p:nvPicPr>
          <p:cNvPr id="61" name="Picture 60" descr="send-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691" y="1740571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2008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ОТ ПОТРЕБНОСТИ ДО КОНТАКТА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51072" y="1516955"/>
            <a:ext cx="2507013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Потребность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072" y="1807023"/>
            <a:ext cx="2507013" cy="798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Текст работодателя → навыки, грейды, вилка, формат. Черновик подтверждает человек.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36470" y="4971642"/>
            <a:ext cx="2507013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Карта категорий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36470" y="5261710"/>
            <a:ext cx="2507013" cy="798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Сколько подтверждённых в каждом грейде, ожидания p25/p50/p75, покрытие вилкой.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8772" y="1516955"/>
            <a:ext cx="2507013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Объяснимая подборка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8772" y="1807023"/>
            <a:ext cx="2507013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Факты «за» и «против» у каждого места; каждое построение — новая версия.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3300" y="4937594"/>
            <a:ext cx="2507013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Приглашение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13300" y="5227662"/>
            <a:ext cx="2507013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Компания, текст, вилка и способ связи. Квота — 20 активных на потребность.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66472" y="1516955"/>
            <a:ext cx="2507013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Контакты по согласию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66472" y="1807023"/>
            <a:ext cx="2507013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«Принять» выдаёт компании грант на контакты; отказ приходит с причиной.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Скругленный прямоугольник 9"/>
          <p:cNvSpPr/>
          <p:nvPr/>
        </p:nvSpPr>
        <p:spPr>
          <a:xfrm>
            <a:off x="347472" y="320040"/>
            <a:ext cx="3260869" cy="62179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5994696" cy="374904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КАРТА КАТЕГОРИЙ</a:t>
            </a:r>
          </a:p>
        </p:txBody>
      </p:sp>
      <p:pic>
        <p:nvPicPr>
          <p:cNvPr id="23" name="Карта категорий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627632"/>
            <a:ext cx="7589520" cy="3779701"/>
          </a:xfrm>
          <a:prstGeom prst="roundRect">
            <a:avLst>
              <a:gd name="adj" fmla="val 1935"/>
            </a:avLst>
          </a:prstGeom>
          <a:ln w="9525">
            <a:solidFill>
              <a:srgbClr val="8A83D1"/>
            </a:solidFill>
          </a:ln>
          <a:effectLst>
            <a:outerShdw blurRad="228600" dist="50800" dir="5400000" algn="t" rotWithShape="0">
              <a:srgbClr val="310F53">
                <a:alpha val="22000"/>
              </a:srgbClr>
            </a:outerShdw>
          </a:effectLst>
        </p:spPr>
      </p:pic>
      <p:sp>
        <p:nvSpPr>
          <p:cNvPr id="24" name="Oval 23"/>
          <p:cNvSpPr/>
          <p:nvPr/>
        </p:nvSpPr>
        <p:spPr>
          <a:xfrm>
            <a:off x="512064" y="3975136"/>
            <a:ext cx="274320" cy="2743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" y="4475833"/>
            <a:ext cx="274320" cy="2743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" y="4799593"/>
            <a:ext cx="274320" cy="2743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8796528" y="1691640"/>
            <a:ext cx="329184" cy="32918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1709928"/>
            <a:ext cx="2514600" cy="488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Сколько подтверждённых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198624"/>
            <a:ext cx="2514600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в каждом грейде и доля кандидатов с достижениями ФСП</a:t>
            </a:r>
          </a:p>
        </p:txBody>
      </p:sp>
      <p:sp>
        <p:nvSpPr>
          <p:cNvPr id="30" name="Oval 29"/>
          <p:cNvSpPr/>
          <p:nvPr/>
        </p:nvSpPr>
        <p:spPr>
          <a:xfrm>
            <a:off x="8796528" y="3049016"/>
            <a:ext cx="329184" cy="32918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067304"/>
            <a:ext cx="251460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Ожидания по зарплате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339083"/>
            <a:ext cx="2514600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квартили p25 / p50 / p75 по живым данным, а не «рынок в среднем»</a:t>
            </a:r>
          </a:p>
        </p:txBody>
      </p:sp>
      <p:sp>
        <p:nvSpPr>
          <p:cNvPr id="33" name="Oval 32"/>
          <p:cNvSpPr/>
          <p:nvPr/>
        </p:nvSpPr>
        <p:spPr>
          <a:xfrm>
            <a:off x="8796528" y="4189476"/>
            <a:ext cx="329184" cy="32918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207764"/>
            <a:ext cx="2514600" cy="271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Покрытие вилкой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479544"/>
            <a:ext cx="2514600" cy="798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200" b="0">
                <a:solidFill>
                  <a:srgbClr val="1C1D22"/>
                </a:solidFill>
              </a:rPr>
              <a:t>какую часть категории покрывает вилка; если мало — подсказка, какой она должна быть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76072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1">
                <a:solidFill>
                  <a:srgbClr val="520978"/>
                </a:solidFill>
              </a:rPr>
              <a:t>Работодатель правит вилку и требования до приглашений, а не после десятка отказов.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427610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074937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ОБЪЯСНИМАЯ ПОДБОРКА</a:t>
            </a:r>
          </a:p>
        </p:txBody>
      </p:sp>
      <p:pic>
        <p:nvPicPr>
          <p:cNvPr id="11" name="Подборка" descr="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67" y="1188720"/>
            <a:ext cx="9509760" cy="3622537"/>
          </a:xfrm>
          <a:prstGeom prst="roundRect">
            <a:avLst>
              <a:gd name="adj" fmla="val 1514"/>
            </a:avLst>
          </a:prstGeom>
          <a:ln w="9525">
            <a:solidFill>
              <a:srgbClr val="8A83D1"/>
            </a:solidFill>
          </a:ln>
          <a:effectLst>
            <a:outerShdw blurRad="228600" dist="50800" dir="5400000" algn="t" rotWithShape="0">
              <a:srgbClr val="310F53">
                <a:alpha val="22000"/>
              </a:srgbClr>
            </a:outerShdw>
          </a:effectLst>
        </p:spPr>
      </p:pic>
      <p:sp>
        <p:nvSpPr>
          <p:cNvPr id="12" name="Формула"/>
          <p:cNvSpPr/>
          <p:nvPr/>
        </p:nvSpPr>
        <p:spPr>
          <a:xfrm>
            <a:off x="548640" y="5067289"/>
            <a:ext cx="11091672" cy="868680"/>
          </a:xfrm>
          <a:prstGeom prst="roundRect">
            <a:avLst>
              <a:gd name="adj" fmla="val 14736"/>
            </a:avLst>
          </a:prstGeom>
          <a:solidFill>
            <a:srgbClr val="FFD6E4"/>
          </a:solidFill>
          <a:ln>
            <a:noFill/>
          </a:ln>
        </p:spPr>
        <p:txBody>
          <a:bodyPr lIns="274320" rIns="274320" rtlCol="0" anchor="ctr"/>
          <a:lstStyle/>
          <a:p>
            <a:pPr algn="ctr">
              <a:spcAft>
                <a:spcPts val="200"/>
              </a:spcAft>
            </a:pPr>
            <a:r>
              <a:rPr lang="ru-RU" sz="1500" b="1">
                <a:solidFill>
                  <a:srgbClr val="FF0053"/>
                </a:solidFill>
              </a:rPr>
              <a:t>релевантность</a:t>
            </a:r>
            <a:r>
              <a:rPr lang="ru-RU" sz="1500">
                <a:solidFill>
                  <a:srgbClr val="310F53"/>
                </a:solidFill>
              </a:rPr>
              <a:t> = 0,35·тест + 0,25·навыки + 0,15·ФСП + 0,10·свежесть + 0,15·условия</a:t>
            </a:r>
          </a:p>
          <a:p>
            <a:pPr algn="ctr">
              <a:spcAft>
                <a:spcPts val="200"/>
              </a:spcAft>
            </a:pPr>
            <a:r>
              <a:rPr lang="ru-RU" sz="1500" b="1">
                <a:solidFill>
                  <a:srgbClr val="FF0053"/>
                </a:solidFill>
              </a:rPr>
              <a:t>итог</a:t>
            </a:r>
            <a:r>
              <a:rPr lang="ru-RU" sz="1500">
                <a:solidFill>
                  <a:srgbClr val="310F53"/>
                </a:solidFill>
              </a:rPr>
              <a:t> = релевантность × (0,6 + 0,4 · вероятность отклика)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91417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0">
                <a:solidFill>
                  <a:srgbClr val="1C1D22"/>
                </a:solidFill>
              </a:rPr>
              <a:t>Подтверждённые тестом — всегда выше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6091417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0">
                <a:solidFill>
                  <a:srgbClr val="1C1D22"/>
                </a:solidFill>
              </a:rPr>
              <a:t>Скрытые кандидатом поля не участвуют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6091417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0">
                <a:solidFill>
                  <a:srgbClr val="1C1D22"/>
                </a:solidFill>
              </a:rPr>
              <a:t>NDCG@10 = 0,92 · +15 % принятых приглашений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492568" y="1737360"/>
            <a:ext cx="2242666" cy="365760"/>
          </a:xfrm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Контакты закрыты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25056" y="4572000"/>
            <a:ext cx="2846170" cy="1463040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До ответа кандидата работодатель видит профиль, результат теста и навыки, но не телефон и почту.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88157" y="1737360"/>
            <a:ext cx="2393557" cy="365760"/>
          </a:xfrm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Кандидат решает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0645" y="4572000"/>
            <a:ext cx="2997061" cy="1463040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Видит компанию, текст и вилку ещё до ответа. «Принять» выдаёт компании грант на контакты.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234638" y="1737360"/>
            <a:ext cx="2242666" cy="365760"/>
          </a:xfrm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Контакты открыты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67126" y="4572000"/>
            <a:ext cx="2846170" cy="1463040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Только этой компании. Каждый просмотр пишется в журнал аудита; отказ приходит с причиной.</a:t>
            </a:r>
          </a:p>
        </p:txBody>
      </p:sp>
      <p:sp>
        <p:nvSpPr>
          <p:cNvPr id="22" name="Скругленный прямоугольник 9"/>
          <p:cNvSpPr/>
          <p:nvPr/>
        </p:nvSpPr>
        <p:spPr>
          <a:xfrm>
            <a:off x="347472" y="320040"/>
            <a:ext cx="5895970" cy="62179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11331221" cy="374904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КОНТАКТЫ — ТОЛЬКО ПО СОГЛАСИЮ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25056" y="1700784"/>
            <a:ext cx="731520" cy="411480"/>
          </a:xfrm>
        </p:spPr>
        <p:txBody>
          <a:bodyPr/>
          <a:lstStyle/>
          <a:p>
            <a:pPr marL="0" indent="0">
              <a:buNone/>
            </a:pPr>
            <a:r>
              <a:rPr lang="ru-RU" sz="20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20645" y="1700784"/>
            <a:ext cx="731520" cy="411480"/>
          </a:xfrm>
        </p:spPr>
        <p:txBody>
          <a:bodyPr/>
          <a:lstStyle/>
          <a:p>
            <a:pPr marL="0" indent="0">
              <a:buNone/>
            </a:pPr>
            <a:r>
              <a:rPr lang="ru-RU" sz="20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67126" y="1700784"/>
            <a:ext cx="731520" cy="411480"/>
          </a:xfrm>
        </p:spPr>
        <p:txBody>
          <a:bodyPr/>
          <a:lstStyle/>
          <a:p>
            <a:pPr marL="0" indent="0">
              <a:buNone/>
            </a:pPr>
            <a:r>
              <a:rPr lang="ru-RU" sz="2000" b="1">
                <a:solidFill>
                  <a:srgbClr val="FF0053"/>
                </a:solidFill>
              </a:rPr>
              <a:t>03</a:t>
            </a:r>
          </a:p>
        </p:txBody>
      </p:sp>
      <p:pic>
        <p:nvPicPr>
          <p:cNvPr id="23" name="Контакты закрыты" descr="contacts-clo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" y="2331720"/>
            <a:ext cx="2882746" cy="1601525"/>
          </a:xfrm>
          <a:prstGeom prst="roundRect">
            <a:avLst>
              <a:gd name="adj" fmla="val 2854"/>
            </a:avLst>
          </a:prstGeom>
          <a:ln w="9525">
            <a:solidFill>
              <a:srgbClr val="8A83D1"/>
            </a:solidFill>
          </a:ln>
        </p:spPr>
      </p:pic>
      <p:pic>
        <p:nvPicPr>
          <p:cNvPr id="24" name="Кандидат решает" descr="in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357" y="2331720"/>
            <a:ext cx="3033637" cy="1524759"/>
          </a:xfrm>
          <a:prstGeom prst="roundRect">
            <a:avLst>
              <a:gd name="adj" fmla="val 2998"/>
            </a:avLst>
          </a:prstGeom>
          <a:ln w="9525">
            <a:solidFill>
              <a:srgbClr val="8A83D1"/>
            </a:solidFill>
          </a:ln>
        </p:spPr>
      </p:pic>
      <p:pic>
        <p:nvPicPr>
          <p:cNvPr id="25" name="Контакты открыты" descr="contacts-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838" y="2331720"/>
            <a:ext cx="2882746" cy="1957420"/>
          </a:xfrm>
          <a:prstGeom prst="roundRect">
            <a:avLst>
              <a:gd name="adj" fmla="val 2335"/>
            </a:avLst>
          </a:prstGeom>
          <a:ln w="9525">
            <a:solidFill>
              <a:srgbClr val="8A83D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529768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2" name="Рисунок 1" descr="test-item.pn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l="5" r="5"/>
          <a:stretch>
            <a:fillRect/>
          </a:stretch>
        </p:blipFill>
        <p:spPr>
          <a:xfrm>
            <a:off x="4068417" y="1187395"/>
            <a:ext cx="3988905" cy="3000292"/>
          </a:xfr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500" b="1">
                <a:solidFill>
                  <a:srgbClr val="520978"/>
                </a:solidFill>
              </a:rPr>
              <a:t>101 семейство</a:t>
            </a:r>
          </a:p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Backend, Frontend, Data/ML, DevOps и общий блок; у каждого семейства ≥ 150 разных вариантов на 200 seed.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500" b="1">
                <a:solidFill>
                  <a:srgbClr val="520978"/>
                </a:solidFill>
              </a:rPr>
              <a:t>Адаптивный выбор</a:t>
            </a:r>
          </a:p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Следующее задание — с максимумом информации о кандидате: случайно из 5 лучших, экспозиция ≤ 20 %, баланс тем.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500" b="1">
                <a:solidFill>
                  <a:srgbClr val="520978"/>
                </a:solidFill>
              </a:rPr>
              <a:t>Калибровка по ответам</a:t>
            </a:r>
          </a:p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Сложность заданий уточняется по живым ответам раз в сутки и по кнопке в админке.</a:t>
            </a: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ТЕСТ, КОТОРЫЙ НЕЛЬЗЯ «СЛИТЬ»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315468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Каждый вариант уникален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592072"/>
            <a:ext cx="3154680" cy="15156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Семейство задаёт тему, формат и параметры модели; генератор по seed строит данные и сам вычисляет верный ответ.</a:t>
            </a:r>
          </a:p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Утёкший ответ не подходит к другому варианту — чтобы ответить, нужно решить задачу.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234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Как идёт тест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645920"/>
            <a:ext cx="320040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0">
                <a:solidFill>
                  <a:srgbClr val="1C1D22"/>
                </a:solidFill>
              </a:rPr>
              <a:t>12–20 заданий, свой таймер на каждое</a:t>
            </a:r>
          </a:p>
          <a:p>
            <a:pPr marL="201168" indent="-201168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0">
                <a:solidFill>
                  <a:srgbClr val="1C1D22"/>
                </a:solidFill>
              </a:rPr>
              <a:t>7 форматов: выбор, порядок, число, текст, вывод кода, результат SQL</a:t>
            </a:r>
          </a:p>
          <a:p>
            <a:pPr marL="201168" indent="-201168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0">
                <a:solidFill>
                  <a:srgbClr val="1C1D22"/>
                </a:solidFill>
              </a:rPr>
              <a:t>Правильность — только после теста, затем разбор с пояснениями</a:t>
            </a:r>
          </a:p>
          <a:p>
            <a:pPr marL="201168" indent="-201168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0">
                <a:solidFill>
                  <a:srgbClr val="1C1D22"/>
                </a:solidFill>
              </a:rPr>
              <a:t>Уход со вкладки и вставка — телеметрия для проверки, без автосанкций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Скругленный прямоугольник 9"/>
          <p:cNvSpPr/>
          <p:nvPr/>
        </p:nvSpPr>
        <p:spPr>
          <a:xfrm>
            <a:off x="347472" y="320040"/>
            <a:ext cx="4598709" cy="62179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5994696" cy="374904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РЕШЕНИЕ ПО ВЕРОЯТНОСТИ</a:t>
            </a:r>
          </a:p>
        </p:txBody>
      </p:sp>
      <p:pic>
        <p:nvPicPr>
          <p:cNvPr id="23" name="Результат теста" descr="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7" y="1572768"/>
            <a:ext cx="10607040" cy="3598606"/>
          </a:xfrm>
          <a:prstGeom prst="roundRect">
            <a:avLst>
              <a:gd name="adj" fmla="val 1524"/>
            </a:avLst>
          </a:prstGeom>
          <a:ln w="9525">
            <a:solidFill>
              <a:srgbClr val="8A83D1"/>
            </a:solidFill>
          </a:ln>
        </p:spPr>
      </p:pic>
      <p:sp>
        <p:nvSpPr>
          <p:cNvPr id="24" name="Правило 1"/>
          <p:cNvSpPr/>
          <p:nvPr/>
        </p:nvSpPr>
        <p:spPr>
          <a:xfrm>
            <a:off x="685800" y="5445694"/>
            <a:ext cx="3474720" cy="914400"/>
          </a:xfrm>
          <a:prstGeom prst="roundRect">
            <a:avLst>
              <a:gd name="adj" fmla="val 14000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555422"/>
            <a:ext cx="11430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200" b="1">
                <a:solidFill>
                  <a:srgbClr val="FF0053"/>
                </a:solidFill>
              </a:rPr>
              <a:t>≥ 0,70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555422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P(</a:t>
            </a:r>
            <a:r>
              <a:rPr lang="ru-RU" sz="1100" b="0">
                <a:solidFill>
                  <a:srgbClr val="310F53"/>
                </a:solidFill>
                <a:latin typeface="Arial"/>
              </a:rPr>
              <a:t>θ</a:t>
            </a:r>
            <a:r>
              <a:rPr lang="ru-RU" sz="1100" b="0">
                <a:solidFill>
                  <a:srgbClr val="310F53"/>
                </a:solidFill>
              </a:rPr>
              <a:t> ≥ нижней границы грейда) — грейд подтверждён</a:t>
            </a:r>
          </a:p>
        </p:txBody>
      </p:sp>
      <p:sp>
        <p:nvSpPr>
          <p:cNvPr id="27" name="Правило 2"/>
          <p:cNvSpPr/>
          <p:nvPr/>
        </p:nvSpPr>
        <p:spPr>
          <a:xfrm>
            <a:off x="4343400" y="5445694"/>
            <a:ext cx="3474720" cy="914400"/>
          </a:xfrm>
          <a:prstGeom prst="roundRect">
            <a:avLst>
              <a:gd name="adj" fmla="val 14000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5555422"/>
            <a:ext cx="11430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200" b="1">
                <a:solidFill>
                  <a:srgbClr val="FF0053"/>
                </a:solidFill>
              </a:rPr>
              <a:t>≥ 0,80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555422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для следующего грейда — предложение повысить</a:t>
            </a:r>
          </a:p>
        </p:txBody>
      </p:sp>
      <p:sp>
        <p:nvSpPr>
          <p:cNvPr id="30" name="Правило 3"/>
          <p:cNvSpPr/>
          <p:nvPr/>
        </p:nvSpPr>
        <p:spPr>
          <a:xfrm>
            <a:off x="8001000" y="5445694"/>
            <a:ext cx="3474720" cy="914400"/>
          </a:xfrm>
          <a:prstGeom prst="roundRect">
            <a:avLst>
              <a:gd name="adj" fmla="val 14000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02168" y="5555422"/>
            <a:ext cx="11430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200" b="1">
                <a:solidFill>
                  <a:srgbClr val="FF0053"/>
                </a:solidFill>
              </a:rPr>
              <a:t>иначе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555422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не подтверждён: тест на грейд ниже — сразу, повтор — через 90 дней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86473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2600" b="1">
                <a:solidFill>
                  <a:srgbClr val="FF0053"/>
                </a:solidFill>
              </a:rPr>
              <a:t>82–84 %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868680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грейд определяется точно, с точностью до ступени — 100 %; 4 специализации × 400 синтетических кандидатов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2600" b="1">
                <a:solidFill>
                  <a:srgbClr val="FF0053"/>
                </a:solidFill>
              </a:rPr>
              <a:t>0,64–0,73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8680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каппа Коэна при повторном прохождении (r = 0,88–0,90); угадывающий не подтверждает ни одного грейда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2600" b="1">
                <a:solidFill>
                  <a:srgbClr val="FF0053"/>
                </a:solidFill>
              </a:rPr>
              <a:t>+15 %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68680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принятых приглашений против ранжирования только по релевантности: 8,4 против 7,3 в топ-10</a:t>
            </a: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663567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ВАЛИДАЦИЯ МЕХАНИК</a:t>
            </a:r>
          </a:p>
        </p:txBody>
      </p:sp>
      <p:graphicFrame>
        <p:nvGraphicFramePr>
          <p:cNvPr id="15" name="Качество подбора"/>
          <p:cNvGraphicFramePr>
            <a:graphicFrameLocks noGrp="1"/>
          </p:cNvGraphicFramePr>
          <p:nvPr/>
        </p:nvGraphicFramePr>
        <p:xfrm>
          <a:off x="347472" y="1280160"/>
          <a:ext cx="576072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1" name="Скругленный прямоугольник 1"/>
          <p:cNvSpPr/>
          <p:nvPr/>
        </p:nvSpPr>
        <p:spPr>
          <a:xfrm>
            <a:off x="347472" y="320040"/>
            <a:ext cx="4630157" cy="621792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5574868" cy="374904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ТЕХНИЧЕСКАЯ ПРОРАБОТКА</a:t>
            </a:r>
          </a:p>
        </p:txBody>
      </p:sp>
      <p:pic>
        <p:nvPicPr>
          <p:cNvPr id="32" name="Контейнеры (C4)" descr="c4-contai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8720"/>
            <a:ext cx="5669280" cy="3246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1480" y="47091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</a:rPr>
              <a:t>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257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операций API</a:t>
            </a:r>
          </a:p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в OpenAPI 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6232" y="47091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</a:rPr>
              <a:t>198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6232" y="5257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тестов Go</a:t>
            </a:r>
          </a:p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в 32 пакетах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0984" y="47091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0984" y="5257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сквозных</a:t>
            </a:r>
          </a:p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сценариев E2E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5736" y="47091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800" b="1">
                <a:solidFill>
                  <a:srgbClr val="FF0053"/>
                </a:solidFill>
              </a:rPr>
              <a:t>1 160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5736" y="5257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запросов/с,</a:t>
            </a:r>
          </a:p>
          <a:p>
            <a:pPr algn="l">
              <a:spcAft>
                <a:spcPts val="0"/>
              </a:spcAft>
            </a:pPr>
            <a:r>
              <a:rPr lang="ru-RU" sz="1100" b="0">
                <a:solidFill>
                  <a:srgbClr val="5A556B"/>
                </a:solidFill>
              </a:rPr>
              <a:t>p95 ≤ 139 мс</a:t>
            </a:r>
          </a:p>
        </p:txBody>
      </p:sp>
      <p:sp>
        <p:nvSpPr>
          <p:cNvPr id="41" name="Подложка"/>
          <p:cNvSpPr/>
          <p:nvPr/>
        </p:nvSpPr>
        <p:spPr>
          <a:xfrm>
            <a:off x="6812280" y="1097280"/>
            <a:ext cx="5029200" cy="5120640"/>
          </a:xfrm>
          <a:prstGeom prst="roundRect">
            <a:avLst>
              <a:gd name="adj" fmla="val 3272"/>
            </a:avLst>
          </a:prstGeom>
          <a:solidFill>
            <a:srgbClr val="310F53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1325880"/>
            <a:ext cx="44348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Go 1.26, модульный монолит:</a:t>
            </a:r>
            <a:r>
              <a:rPr lang="ru-RU" sz="1300" b="0">
                <a:solidFill>
                  <a:srgbClr val="FFFFFF"/>
                </a:solidFill>
              </a:rPr>
              <a:t> домен → сценарии → HTTP; один бинарник без cgo</a:t>
            </a:r>
          </a:p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OpenAPI из кода:</a:t>
            </a:r>
            <a:r>
              <a:rPr lang="ru-RU" sz="1300" b="0">
                <a:solidFill>
                  <a:srgbClr val="FFFFFF"/>
                </a:solidFill>
              </a:rPr>
              <a:t> типы фронтенда и SQL-слой генерируются — расхождения ловит компилятор</a:t>
            </a:r>
          </a:p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PostgreSQL 18:</a:t>
            </a:r>
            <a:r>
              <a:rPr lang="ru-RU" sz="1300" b="0">
                <a:solidFill>
                  <a:srgbClr val="FFFFFF"/>
                </a:solidFill>
              </a:rPr>
              <a:t> транзакции, миграции goose, запросы sqlc</a:t>
            </a:r>
          </a:p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Безопасность:</a:t>
            </a:r>
            <a:r>
              <a:rPr lang="ru-RU" sz="1300" b="0">
                <a:solidFill>
                  <a:srgbClr val="FFFFFF"/>
                </a:solidFill>
              </a:rPr>
              <a:t> ревью по OWASP — 1 критическая, 2 высокие и 4 средние находки исправлены с регрессионными тестами</a:t>
            </a:r>
          </a:p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152-ФЗ:</a:t>
            </a:r>
            <a:r>
              <a:rPr lang="ru-RU" sz="1300" b="0">
                <a:solidFill>
                  <a:srgbClr val="FFFFFF"/>
                </a:solidFill>
              </a:rPr>
              <a:t> согласия с версиями, гранты на контакты, аудит, удаление аккаунта</a:t>
            </a:r>
          </a:p>
          <a:p>
            <a:pPr marL="201168" indent="-201168" algn="l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FFFFFF"/>
                </a:solidFill>
              </a:rPr>
              <a:t>Нагрузка:</a:t>
            </a:r>
            <a:r>
              <a:rPr lang="ru-RU" sz="1300" b="0">
                <a:solidFill>
                  <a:srgbClr val="FFFFFF"/>
                </a:solidFill>
              </a:rPr>
              <a:t> 50 параллельных пользователей, 17 434 запросов, ошибок —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827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В ЧЁМ УНИКАЛЬНОСТЬ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7244" y="1737360"/>
            <a:ext cx="1097280" cy="457200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89593" y="1737360"/>
            <a:ext cx="1097280" cy="457200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31942" y="1737360"/>
            <a:ext cx="1097280" cy="457200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374291" y="1737360"/>
            <a:ext cx="1097280" cy="457200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04</a:t>
            </a:r>
          </a:p>
        </p:txBody>
      </p:sp>
      <p:pic>
        <p:nvPicPr>
          <p:cNvPr id="28" name="Picture 27" descr="badge-check-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77" y="1755648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4676" y="2395728"/>
            <a:ext cx="2215601" cy="55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Категория вместо резюме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676" y="3019552"/>
            <a:ext cx="2215601" cy="12633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Грейд подтверждён измерением: адаптивный тест и решение по вероятности, а не самоописание.</a:t>
            </a:r>
          </a:p>
        </p:txBody>
      </p:sp>
      <p:sp>
        <p:nvSpPr>
          <p:cNvPr id="31" name="Доказательство 1"/>
          <p:cNvSpPr/>
          <p:nvPr/>
        </p:nvSpPr>
        <p:spPr>
          <a:xfrm>
            <a:off x="528956" y="5047488"/>
            <a:ext cx="2307041" cy="932688"/>
          </a:xfrm>
          <a:prstGeom prst="roundRect">
            <a:avLst>
              <a:gd name="adj" fmla="val 11764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3548" y="5120640"/>
            <a:ext cx="197785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000" b="1">
                <a:solidFill>
                  <a:srgbClr val="FF0053"/>
                </a:solidFill>
              </a:rPr>
              <a:t>82–84 %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548" y="5541264"/>
            <a:ext cx="197785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точность грейда</a:t>
            </a:r>
          </a:p>
        </p:txBody>
      </p:sp>
      <p:pic>
        <p:nvPicPr>
          <p:cNvPr id="34" name="Picture 33" descr="shuffle-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426" y="175564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17025" y="2395728"/>
            <a:ext cx="2215601" cy="798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Задания, которые бесполезно сливать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7025" y="3267456"/>
            <a:ext cx="2215601" cy="10619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Ответ вычисляется для каждого варианта: утёкший текст или ответ не помогает следующему кандидату.</a:t>
            </a:r>
          </a:p>
        </p:txBody>
      </p:sp>
      <p:sp>
        <p:nvSpPr>
          <p:cNvPr id="37" name="Доказательство 2"/>
          <p:cNvSpPr/>
          <p:nvPr/>
        </p:nvSpPr>
        <p:spPr>
          <a:xfrm>
            <a:off x="3471305" y="5047488"/>
            <a:ext cx="2307041" cy="932688"/>
          </a:xfrm>
          <a:prstGeom prst="roundRect">
            <a:avLst>
              <a:gd name="adj" fmla="val 11764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5897" y="5120640"/>
            <a:ext cx="197785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000" b="1">
                <a:solidFill>
                  <a:srgbClr val="FF0053"/>
                </a:solidFill>
              </a:rPr>
              <a:t>≥ 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5897" y="5541264"/>
            <a:ext cx="197785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вариантов у семейства</a:t>
            </a:r>
          </a:p>
        </p:txBody>
      </p:sp>
      <p:pic>
        <p:nvPicPr>
          <p:cNvPr id="40" name="Picture 39" descr="target-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774" y="1755648"/>
            <a:ext cx="457200" cy="457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59374" y="2395728"/>
            <a:ext cx="2215601" cy="798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Подбор с вероятностью отклика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9374" y="3267456"/>
            <a:ext cx="2215601" cy="10619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Работодатель получает тех, кто ответит: больше принятых приглашений при сопоставимом качестве выдачи.</a:t>
            </a:r>
          </a:p>
        </p:txBody>
      </p:sp>
      <p:sp>
        <p:nvSpPr>
          <p:cNvPr id="43" name="Доказательство 3"/>
          <p:cNvSpPr/>
          <p:nvPr/>
        </p:nvSpPr>
        <p:spPr>
          <a:xfrm>
            <a:off x="6413654" y="5047488"/>
            <a:ext cx="2307041" cy="932688"/>
          </a:xfrm>
          <a:prstGeom prst="roundRect">
            <a:avLst>
              <a:gd name="adj" fmla="val 11764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78246" y="5120640"/>
            <a:ext cx="197785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000" b="1">
                <a:solidFill>
                  <a:srgbClr val="FF0053"/>
                </a:solidFill>
              </a:rPr>
              <a:t>+15 %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8246" y="5541264"/>
            <a:ext cx="197785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принятых приглашений</a:t>
            </a:r>
          </a:p>
        </p:txBody>
      </p:sp>
      <p:pic>
        <p:nvPicPr>
          <p:cNvPr id="46" name="Picture 45" descr="lock-keyhole-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0123" y="1755648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401723" y="2395728"/>
            <a:ext cx="2215601" cy="55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Контакты по согласию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1723" y="3019552"/>
            <a:ext cx="2215601" cy="8605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Гранты, аудит и приватность полей; кандидат без истории ФСП не штрафуется.</a:t>
            </a:r>
          </a:p>
        </p:txBody>
      </p:sp>
      <p:sp>
        <p:nvSpPr>
          <p:cNvPr id="49" name="Доказательство 4"/>
          <p:cNvSpPr/>
          <p:nvPr/>
        </p:nvSpPr>
        <p:spPr>
          <a:xfrm>
            <a:off x="9356002" y="5047488"/>
            <a:ext cx="2307041" cy="932688"/>
          </a:xfrm>
          <a:prstGeom prst="roundRect">
            <a:avLst>
              <a:gd name="adj" fmla="val 11764"/>
            </a:avLst>
          </a:prstGeom>
          <a:solidFill>
            <a:srgbClr val="FFD6E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20595" y="5120640"/>
            <a:ext cx="197785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2000" b="1">
                <a:solidFill>
                  <a:srgbClr val="FF0053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0595" y="5541264"/>
            <a:ext cx="197785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100" b="0">
                <a:solidFill>
                  <a:srgbClr val="310F53"/>
                </a:solidFill>
              </a:rPr>
              <a:t>контактов до согласия кандидата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41661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РЫНОК И БИЗНЕС-МОДЕЛЬ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lang="ru-RU" sz="24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7401" y="1483641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Кандидату — бесплатно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7401" y="1804697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Подтверждённый грейд, PDF-профиль, приглашения только с вилкой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8045" y="3087625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Работодателю — пилот бесплатно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8045" y="3408681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Квота приглашений, карта категорий и подборка без оплаты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8045" y="4671737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Платные тарифы (гипотеза)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8045" y="4992792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Больше приглашений, аналитика рынка по категориям, интеграция с 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0508" y="1483641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ФСП — карьерный трек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508" y="1804697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Участники соревнований получают работу, ФСП — данные о навыках сообщества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1152" y="3087625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Каналы привлечения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1152" y="3408681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Соревнования ФСП, вузы и клубы, компании-партнёры турниров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1152" y="4671737"/>
            <a:ext cx="3931920" cy="3027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600" b="1">
                <a:solidFill>
                  <a:srgbClr val="520978"/>
                </a:solidFill>
              </a:rPr>
              <a:t>Метрики пилота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1152" y="4992792"/>
            <a:ext cx="3931920" cy="45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300" b="0">
                <a:solidFill>
                  <a:srgbClr val="1C1D22"/>
                </a:solidFill>
              </a:rPr>
              <a:t>Доля принятых приглашений, время до контакта, доля подтверждённых категорий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Скругленный прямоугольник 1"/>
          <p:cNvSpPr/>
          <p:nvPr/>
        </p:nvSpPr>
        <p:spPr>
          <a:xfrm>
            <a:off x="347472" y="320040"/>
            <a:ext cx="2962866" cy="621792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5562510" cy="374904"/>
          </a:xfrm>
        </p:spPr>
        <p:txBody>
          <a:bodyPr/>
          <a:lstStyle/>
          <a:p>
            <a:pPr marL="0" indent="0">
              <a:buNone/>
            </a:pPr>
            <a:r>
              <a:rPr lang="ru-RU" sz="1997" b="1">
                <a:solidFill>
                  <a:srgbClr val="FFFFFF"/>
                </a:solidFill>
              </a:rPr>
              <a:t>ПЛАН РАЗВИТИЯ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32918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01</a:t>
            </a:r>
            <a:r>
              <a:rPr lang="ru-RU" sz="1700">
                <a:solidFill>
                  <a:srgbClr val="520978"/>
                </a:solidFill>
              </a:rPr>
              <a:t>  Пилот с ФСП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32918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02</a:t>
            </a:r>
            <a:r>
              <a:rPr lang="ru-RU" sz="1700">
                <a:solidFill>
                  <a:srgbClr val="520978"/>
                </a:solidFill>
              </a:rPr>
              <a:t>  Банк заданий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32918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03</a:t>
            </a:r>
            <a:r>
              <a:rPr lang="ru-RU" sz="1700">
                <a:solidFill>
                  <a:srgbClr val="520978"/>
                </a:solidFill>
              </a:rPr>
              <a:t>  Честность теста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32918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04</a:t>
            </a:r>
            <a:r>
              <a:rPr lang="ru-RU" sz="1700">
                <a:solidFill>
                  <a:srgbClr val="520978"/>
                </a:solidFill>
              </a:rPr>
              <a:t>  Умнее подбор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32918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05</a:t>
            </a:r>
            <a:r>
              <a:rPr lang="ru-RU" sz="1700">
                <a:solidFill>
                  <a:srgbClr val="520978"/>
                </a:solidFill>
              </a:rPr>
              <a:t>  Экосистема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0" y="1695025"/>
            <a:ext cx="77724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0">
                <a:solidFill>
                  <a:srgbClr val="1C1D22"/>
                </a:solidFill>
              </a:rPr>
              <a:t>реальный ФСП ID (Keycloak) и реестр достижений по webhook, стенд и мониторинг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552035"/>
            <a:ext cx="77724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0">
                <a:solidFill>
                  <a:srgbClr val="1C1D22"/>
                </a:solidFill>
              </a:rPr>
              <a:t>150–200 семейств, банки QA и ИБ, экспертная разметка и калибровка на живых ответах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409044"/>
            <a:ext cx="77724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0">
                <a:solidFill>
                  <a:srgbClr val="1C1D22"/>
                </a:solidFill>
              </a:rPr>
              <a:t>прокторинг по согласию, анализ аномально быстрых ответов и похожих траекторий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266053"/>
            <a:ext cx="77724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0">
                <a:solidFill>
                  <a:srgbClr val="1C1D22"/>
                </a:solidFill>
              </a:rPr>
              <a:t>модель отклика на накопленных данных, семантическое сходство навыков, A/B-тесты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123063"/>
            <a:ext cx="77724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ru-RU" sz="1400" b="0">
                <a:solidFill>
                  <a:srgbClr val="1C1D22"/>
                </a:solidFill>
              </a:rPr>
              <a:t>интеграция с ATS, верификация компаний по ИНН, регулярные короткие задания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5434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НАША КОМАНДА</a:t>
            </a:r>
          </a:p>
        </p:txBody>
      </p:sp>
      <p:sp>
        <p:nvSpPr>
          <p:cNvPr id="973" name="Rounded Rectangle 972"/>
          <p:cNvSpPr/>
          <p:nvPr/>
        </p:nvSpPr>
        <p:spPr>
          <a:xfrm>
            <a:off x="882395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4" name="Picture 973" descr="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5" y="1874519"/>
            <a:ext cx="1737360" cy="1737360"/>
          </a:xfrm>
          <a:prstGeom prst="rect">
            <a:avLst/>
          </a:prstGeom>
        </p:spPr>
      </p:pic>
      <p:sp>
        <p:nvSpPr>
          <p:cNvPr id="975" name="TextBox 974"/>
          <p:cNvSpPr txBox="1"/>
          <p:nvPr/>
        </p:nvSpPr>
        <p:spPr>
          <a:xfrm>
            <a:off x="973836" y="374903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C1D22"/>
                </a:solidFill>
                <a:latin typeface="Montserrat"/>
              </a:rPr>
              <a:t>Тимур Айгумов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973836" y="42245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556B"/>
                </a:solidFill>
                <a:latin typeface="Montserrat"/>
              </a:rPr>
              <a:t>продукт и математика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3625596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8" name="Picture 977" descr="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1874519"/>
            <a:ext cx="1737360" cy="1737360"/>
          </a:xfrm>
          <a:prstGeom prst="rect">
            <a:avLst/>
          </a:prstGeom>
        </p:spPr>
      </p:pic>
      <p:sp>
        <p:nvSpPr>
          <p:cNvPr id="979" name="TextBox 978"/>
          <p:cNvSpPr txBox="1"/>
          <p:nvPr/>
        </p:nvSpPr>
        <p:spPr>
          <a:xfrm>
            <a:off x="3717035" y="374903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C1D22"/>
                </a:solidFill>
                <a:latin typeface="Montserrat"/>
              </a:rPr>
              <a:t>Рустам Махмудов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3717035" y="42245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556B"/>
                </a:solidFill>
                <a:latin typeface="Montserrat"/>
              </a:rPr>
              <a:t>продукт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6368796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2" name="Picture 981" descr="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1874519"/>
            <a:ext cx="1737360" cy="1737360"/>
          </a:xfrm>
          <a:prstGeom prst="rect">
            <a:avLst/>
          </a:prstGeom>
        </p:spPr>
      </p:pic>
      <p:sp>
        <p:nvSpPr>
          <p:cNvPr id="983" name="TextBox 982"/>
          <p:cNvSpPr txBox="1"/>
          <p:nvPr/>
        </p:nvSpPr>
        <p:spPr>
          <a:xfrm>
            <a:off x="6460236" y="374903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C1D22"/>
                </a:solidFill>
                <a:latin typeface="Montserrat"/>
              </a:rPr>
              <a:t>Хайрутин Штанчаев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6460236" y="42245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556B"/>
                </a:solidFill>
                <a:latin typeface="Montserrat"/>
              </a:rPr>
              <a:t>разработка</a:t>
            </a:r>
          </a:p>
        </p:txBody>
      </p:sp>
      <p:sp>
        <p:nvSpPr>
          <p:cNvPr id="985" name="Rounded Rectangle 984"/>
          <p:cNvSpPr/>
          <p:nvPr/>
        </p:nvSpPr>
        <p:spPr>
          <a:xfrm>
            <a:off x="9111996" y="1691640"/>
            <a:ext cx="2194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6" name="Picture 985" descr="3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596" y="1874519"/>
            <a:ext cx="1737360" cy="1737360"/>
          </a:xfrm>
          <a:prstGeom prst="rect">
            <a:avLst/>
          </a:prstGeom>
        </p:spPr>
      </p:pic>
      <p:sp>
        <p:nvSpPr>
          <p:cNvPr id="987" name="TextBox 986"/>
          <p:cNvSpPr txBox="1"/>
          <p:nvPr/>
        </p:nvSpPr>
        <p:spPr>
          <a:xfrm>
            <a:off x="9203436" y="374903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C1D22"/>
                </a:solidFill>
                <a:latin typeface="Montserrat"/>
              </a:rPr>
              <a:t>Магомедкамиль Багандов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9203436" y="422452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556B"/>
                </a:solidFill>
                <a:latin typeface="Montserrat"/>
              </a:rPr>
              <a:t>разработка и документация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Спасибо!</a:t>
            </a:r>
          </a:p>
          <a:p>
            <a:pPr marL="268288" indent="0"/>
            <a:r>
              <a:rPr lang="ru-RU" sz="1800" b="0"/>
              <a:t>Готовы показать демо и ответить на вопросы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/>
          </a:bodyPr>
          <a:lstStyle/>
          <a:p>
            <a:pPr marL="271463" indent="-3175"/>
            <a:r>
              <a:rPr lang="ru-RU" sz="1400" dirty="0"/>
              <a:t>Сайт: https://45-67-33-39.sslip.io</a:t>
            </a:r>
          </a:p>
          <a:p>
            <a:pPr marL="271463" indent="-3175"/>
            <a:r>
              <a:rPr lang="ru-RU" sz="1400" dirty="0"/>
              <a:t>Репозиторий: https://github.com/mkbagandov/fsp-hh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46920" y="3703320"/>
            <a:ext cx="2194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886200"/>
            <a:ext cx="1737360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46920" y="56509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1D22"/>
                </a:solidFill>
                <a:latin typeface="Montserrat"/>
              </a:rPr>
              <a:t>Наведите камеру — сайт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2742</Words>
  <Application>Microsoft Office PowerPoint</Application>
  <PresentationFormat>Широкоэкранный</PresentationFormat>
  <Paragraphs>262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Montserrat</vt:lpstr>
      <vt:lpstr>Wingdings</vt:lpstr>
      <vt:lpstr>Для Академия инноваторов 16_9</vt:lpstr>
      <vt:lpstr>Ratel</vt:lpstr>
      <vt:lpstr>Команда и решение</vt:lpstr>
      <vt:lpstr>УЧАСТНИК И РОЛИ</vt:lpstr>
      <vt:lpstr>ИСТОРИЯ И ВЫЗОВЫ</vt:lpstr>
      <vt:lpstr>КОРОТКО О РЕШЕНИИ</vt:lpstr>
      <vt:lpstr>ОБРАТНАЯ МЕХАНИКА НАЙМА</vt:lpstr>
      <vt:lpstr>ОТ ПОТРЕБНОСТИ ДО КОНТАКТА</vt:lpstr>
      <vt:lpstr>КАРТА КАТЕГОРИЙ</vt:lpstr>
      <vt:lpstr>ОБЪЯСНИМАЯ ПОДБОРКА</vt:lpstr>
      <vt:lpstr>КОНТАКТЫ — ТОЛЬКО ПО СОГЛАСИЮ</vt:lpstr>
      <vt:lpstr>ТЕСТ, КОТОРЫЙ НЕЛЬЗЯ «СЛИТЬ»</vt:lpstr>
      <vt:lpstr>РЕШЕНИЕ ПО ВЕРОЯТНОСТИ</vt:lpstr>
      <vt:lpstr>ВАЛИДАЦИЯ МЕХАНИК</vt:lpstr>
      <vt:lpstr>ТЕХНИЧЕСКАЯ ПРОРАБОТКА</vt:lpstr>
      <vt:lpstr>В ЧЁМ УНИКАЛЬНОСТЬ</vt:lpstr>
      <vt:lpstr>РЫНОК И БИЗНЕС-МОДЕЛЬ</vt:lpstr>
      <vt:lpstr>ПЛАН РАЗВИТИЯ</vt:lpstr>
      <vt:lpstr>НАША КОМАНДА</vt:lpstr>
      <vt:lpstr>Спасибо! Готовы показать демо и ответить на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«ФСП» — питч</dc:title>
  <dc:creator>[Имя Фамилия]</dc:creator>
  <cp:lastModifiedBy>Багандов Магомед</cp:lastModifiedBy>
  <cp:revision>98</cp:revision>
  <dcterms:created xsi:type="dcterms:W3CDTF">2023-05-15T07:36:23Z</dcterms:created>
  <dcterms:modified xsi:type="dcterms:W3CDTF">2026-10-11T10:54:40Z</dcterms:modified>
</cp:coreProperties>
</file>